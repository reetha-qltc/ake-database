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short, practical session. Emphasize that the last third of the deck focuses specifically on how Solution Development can apply this on live client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this in real Qltc experience if possible — a project where late-stage rework happened, or one where early client involvement clearly paid off. Keep it general enough for non-technical attendees, but signal that Solution Development will get a deeper example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Popularized by Stanford d.school and IDEO. Stress the mindset point — this isn't only for designers; anyone scoping a client engagement or a feature uses the same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for the next three slides — we'll go two stages at a time, then close on Test and the loop-back, which is the bridge into the Spiral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Empathize and Define together are about resisting the urge to jump to a solution. In consulting terms, this is the discovery phase — but done with the end user, not only the sponsor.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Ideate is where teams often under-invest — jumping to the first workable idea. Prototype should be the cheapest possible way to test the idea, not a finished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slide — make the iteration point land clearly, since the next section builds directly on 'Design Thinking is a loop, not a line.'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for non-technical attendees — the point is 'iterative and risk-first,' not the full history. Solution Development members may already recognize this from SDLC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arrows clockwise: Q1 to Q2 to Q3 to Q4, then back to Q1 for the next, larger loop. This is the same shape as the Design Thinking loop we just covered — that's the bridge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The mapping isn't perfectly 1:1 by design — Design Thinking's five stages and the Spiral's four quadrants are two lenses on the same loop, not a strict translation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a real, recent Qltc Solution Development example here if one is available — ERP module, client dashboard, or managed-services tooling — the structure of the four steps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last point explicitly back to Qltc's six verticals and the 100 Crore growth ambition — this way of working scales client trust, which scales referrals and repeat engagements.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the room: which current project could benefit from starting its next phase with an explicit Empathize step? Use a real, live example if one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Good prompts: 'Where in our current pipeline are we skipping Empathize?' or 'Which client project would benefit from an explicit spiral, iteration-based plan?'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0" descr="qlt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2331720" cy="13286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664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Leap Trainers and Consultants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58368" y="34290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Empathy to Engineering — Linking the Design Thinking Process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Spiral Model of Software Development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" y="4709160"/>
            <a:ext cx="548640" cy="54864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9" name="Image 1" descr="icons_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483260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7091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 </a:t>
            </a:r>
            <a:pPr indent="0" marL="0">
              <a:buNone/>
            </a:pPr>
            <a:r>
              <a:rPr lang="en-US" sz="1300" dirty="0">
                <a:solidFill>
                  <a:srgbClr val="AE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General session for all Qltc team members, with focus for the Solution Development team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Krishna Praveen Rao  |  Qltc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walkthrough — from mindset to method to a Qltc-specific example.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9676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Qltc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2585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building the wrong thing well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1663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691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979676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icons_ide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442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56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Design Thinking?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78040" y="22585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human-centered, iterative mindset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744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534156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icons_lo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987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4107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Stages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00200" y="38130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Empathize, Define, Ideate, Prototype, Test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1663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26480" y="32461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3534156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3" descr="icons_spi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69874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34107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Spiral Model?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178040" y="38130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risk-driven, iterative way to build software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0744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48006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088636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4" descr="icons_puzz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25322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9651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They Connect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600200" y="53675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Design Thinking onto the spiral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16636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126480" y="48006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355080" y="5088636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6" name="Image 5" descr="icons_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5253228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78040" y="49651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It at Qltc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7178040" y="53675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from Solution Development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07442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the Qltc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685800" cy="68580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5" name="Image 0" descr="icons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5146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build well-engineered solutions that miss the real user need.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gathered once, frozen, and revisited only at delivery.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happens late — the most expensive time to discover a mismatch.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feel handed a solution rather than partnered with on 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3736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icons_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Personal to Qltc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29400" y="25146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across six verticals — including Software Development &amp; Managed Services and ERP Implementation — where user needs and technical build must stay tightly linked.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clients (manufacturing, FMCG, and services conglomerates) expect operational rigor, not guesswork.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gives every team member — technical or not — a shared way to start with the client's real problem.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Design Thinking?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human-centered, iterative approach to innovation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draws together what people genuinely need, what technology makes possible, and what a business requires to succeed.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310896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icons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33064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Human-Centered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people's real needs and lived experience — not assumptions made in a conference room.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7860" y="3108960"/>
            <a:ext cx="822960" cy="82296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2" name="Image 1" descr="icons_lo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370" y="33064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&amp; Non-Linear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move back and forth between stages as they learn; it's a cycle, not a checklist.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2788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78340" y="310896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icons_ide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850" y="330647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Mindset, Not a Template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03920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stages are a discipline for thinking, applicable to a product, a process, or a client proposal.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Stages,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67535" y="2880360"/>
            <a:ext cx="8653882" cy="0"/>
          </a:xfrm>
          <a:prstGeom prst="line">
            <a:avLst/>
          </a:prstGeom>
          <a:noFill/>
          <a:ln w="25400">
            <a:solidFill>
              <a:srgbClr val="C7D2E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173175" y="2286000"/>
            <a:ext cx="1188720" cy="11887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_empath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355" y="258318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2711" y="2157984"/>
            <a:ext cx="384048" cy="384048"/>
          </a:xfrm>
          <a:prstGeom prst="ellipse">
            <a:avLst/>
          </a:prstGeom>
          <a:solidFill>
            <a:srgbClr val="E863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32711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44575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Empathize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8855" y="4005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real user needs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6646" y="2286000"/>
            <a:ext cx="1188720" cy="11887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s_def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826" y="2583180"/>
            <a:ext cx="594360" cy="594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96182" y="2157984"/>
            <a:ext cx="384048" cy="384048"/>
          </a:xfrm>
          <a:prstGeom prst="ellipse">
            <a:avLst/>
          </a:prstGeom>
          <a:solidFill>
            <a:srgbClr val="E863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9618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108046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062326" y="4005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core problem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500116" y="2286000"/>
            <a:ext cx="1188720" cy="118872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7" name="Image 2" descr="icons_ide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583180"/>
            <a:ext cx="594360" cy="5943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59652" y="2157984"/>
            <a:ext cx="384048" cy="384048"/>
          </a:xfrm>
          <a:prstGeom prst="ellipse">
            <a:avLst/>
          </a:prstGeom>
          <a:solidFill>
            <a:srgbClr val="E863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5965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71516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225796" y="4005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possible solutions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663586" y="2286000"/>
            <a:ext cx="1188720" cy="11887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icons_prototy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766" y="2583180"/>
            <a:ext cx="594360" cy="59436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523122" y="2157984"/>
            <a:ext cx="384048" cy="384048"/>
          </a:xfrm>
          <a:prstGeom prst="ellipse">
            <a:avLst/>
          </a:prstGeom>
          <a:solidFill>
            <a:srgbClr val="E863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52312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34986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389266" y="4005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testable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827057" y="2286000"/>
            <a:ext cx="1188720" cy="11887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4" descr="icons_t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4237" y="2583180"/>
            <a:ext cx="594360" cy="5943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0686593" y="2157984"/>
            <a:ext cx="384048" cy="384048"/>
          </a:xfrm>
          <a:prstGeom prst="ellipse">
            <a:avLst/>
          </a:prstGeom>
          <a:solidFill>
            <a:srgbClr val="E863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686593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598457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552737" y="4005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real feedback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377440" y="5349240"/>
            <a:ext cx="7406640" cy="685800"/>
          </a:xfrm>
          <a:prstGeom prst="roundRect">
            <a:avLst>
              <a:gd name="adj" fmla="val 46667"/>
            </a:avLst>
          </a:prstGeom>
          <a:solidFill>
            <a:srgbClr val="F5F7FA"/>
          </a:solidFill>
          <a:ln/>
        </p:spPr>
      </p:sp>
      <p:sp>
        <p:nvSpPr>
          <p:cNvPr id="35" name="Shape 28"/>
          <p:cNvSpPr/>
          <p:nvPr/>
        </p:nvSpPr>
        <p:spPr>
          <a:xfrm>
            <a:off x="2606040" y="546811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5" descr="icons_lo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910" y="5570982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246120" y="5349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straight line: teams loop back — a Test often sends you straight back to Empathize or Define.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1 &amp; 2 — Understand Before You Solve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_empath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1954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Empathize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965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real user needs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2880360"/>
            <a:ext cx="4572000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Activities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clients, users, and frontline staff directly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how work actually happens, not how it's documented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Immerse yourself in the user's environment and constraints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judgment — collect, don't solve yet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173736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icons_def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570" y="195453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Define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core problem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675120" y="2880360"/>
            <a:ext cx="4572000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7512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Activities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720840" y="3429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research into clear patterns and pain points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human-centered problem statement (user need first, not a feature or business metric)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with stakeholders on what 'success' looks like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boundary for what this cycle will (and won't) solve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3 &amp; 4 — Explore Widely, Then Build Small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868680" cy="86868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5" name="Image 0" descr="icons_id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1954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Ideate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965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possible solutions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2880360"/>
            <a:ext cx="4572000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Activities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broadly before narrowing — quantity before quality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'How Might We...' questions to reframe the problem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a mix of roles — not just the 'experts'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ideas against user needs and feasibility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173736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icons_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570" y="195453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Prototype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testable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675120" y="2880360"/>
            <a:ext cx="4572000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7512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Activities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720840" y="3429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cheapest version that lets you learn something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mockups, clickable demos, or paper sketches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to build several — prototypes are meant to fail fast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riskiest assumption first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 — Test, and Close the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1954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Test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965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real feedback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2880360"/>
            <a:ext cx="4572000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0632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prototype in front of real users or clients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behavior as much as you listen to opinions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what worked, what confused, and what's missing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result as an input to the next cycle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1B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1737360"/>
            <a:ext cx="868680" cy="86868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2" name="Image 1" descr="icons_lo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133" y="193281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Punchline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29400" y="25603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rarely runs once, start to finish.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Test almost always sends you back — sometimes to Prototype, sometimes all the way to Empathize.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repeated cycling — small loops of learning, each one reducing uncertainty — is exactly the same DNA behind the Spiral Model, which is next.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Spiral Model?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risk-driven, iterative software development model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(Barry Boehm, 1986) that repeats a cycle of planning, risk analysis, building, and evaluation — each pass delivering a more complete, better-understood version of the product.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310896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icons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33064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Loop = One Iteration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663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spiral's radius reflects cumulative cost; the angle reflects progress within the current cycle.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7860" y="3108960"/>
            <a:ext cx="822960" cy="82296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2" name="Image 1" descr="icons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370" y="33064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Drives the Pace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663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single-pass Waterfall, each cycle explicitly surfaces and resolves the biggest unknowns first.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2788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78340" y="310896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icons_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850" y="330647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Complex, Evolving Work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03920" y="4663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large, high-stakes, or requirement-shifting projects — exactly the profile of custom client software.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Quadrants of Each Spiral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20116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_object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22059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5819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5740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 Objectives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057400" y="22860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goals, alternatives, and constraints for this cycle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1168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s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10" y="22059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5819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8952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&amp; Resolve Risks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589520" y="22860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alternatives; prototype to reduce the biggest unknowns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55080" y="37490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29400" y="434340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icons_engine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453771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89520" y="3913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589520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&amp; Test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589520" y="4617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and verify the next working version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22960" y="37490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97280" y="43434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3" descr="icons_revi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" y="453771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57400" y="3913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2057400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Plan Next Loop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2057400" y="4617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evaluates progress; feedback shapes the next cycle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89788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866394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5897880" y="4503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←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313182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Q1 for the next cycle, at a larger scale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Design Thinking Meets the Spiral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names for the same underlying discipline: reduce uncertainty in small, feedback-driven cycles.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9928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_empath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653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54480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Empathize + Define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63440" y="155448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166360" y="1554480"/>
            <a:ext cx="6473952" cy="932688"/>
          </a:xfrm>
          <a:prstGeom prst="roundRect">
            <a:avLst>
              <a:gd name="adj" fmla="val 7843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 Objectives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394960" y="1975104"/>
            <a:ext cx="6016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user needs IS how objectives, alternatives, and constraints get set.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48640" y="2596896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" y="2752344"/>
            <a:ext cx="621792" cy="621792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5" name="Image 1" descr="icons_ide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0779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2596896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663440" y="2596896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166360" y="2596896"/>
            <a:ext cx="6473952" cy="932688"/>
          </a:xfrm>
          <a:prstGeom prst="roundRect">
            <a:avLst>
              <a:gd name="adj" fmla="val 7843"/>
            </a:avLst>
          </a:prstGeom>
          <a:solidFill>
            <a:srgbClr val="1B2A4A"/>
          </a:solidFill>
          <a:ln/>
        </p:spPr>
      </p:sp>
      <p:sp>
        <p:nvSpPr>
          <p:cNvPr id="19" name="Text 15"/>
          <p:cNvSpPr/>
          <p:nvPr/>
        </p:nvSpPr>
        <p:spPr>
          <a:xfrm>
            <a:off x="5394960" y="26883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Q1→Q2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394960" y="3017520"/>
            <a:ext cx="6016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creative options is exactly what 'evaluating alternatives' requires as input.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548640" y="3639312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/>
        </p:spPr>
      </p:sp>
      <p:sp>
        <p:nvSpPr>
          <p:cNvPr id="23" name="Shape 19"/>
          <p:cNvSpPr/>
          <p:nvPr/>
        </p:nvSpPr>
        <p:spPr>
          <a:xfrm>
            <a:off x="713232" y="3794760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2" descr="icons_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50208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63040" y="3639312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4663440" y="3639312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5166360" y="3639312"/>
            <a:ext cx="6473952" cy="932688"/>
          </a:xfrm>
          <a:prstGeom prst="roundRect">
            <a:avLst>
              <a:gd name="adj" fmla="val 7843"/>
            </a:avLst>
          </a:prstGeom>
          <a:solidFill>
            <a:srgbClr val="1B2A4A"/>
          </a:solidFill>
          <a:ln/>
        </p:spPr>
      </p:sp>
      <p:sp>
        <p:nvSpPr>
          <p:cNvPr id="28" name="Text 23"/>
          <p:cNvSpPr/>
          <p:nvPr/>
        </p:nvSpPr>
        <p:spPr>
          <a:xfrm>
            <a:off x="5394960" y="37307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Q2→Q3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0080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Risk &amp; Build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5394960" y="4059936"/>
            <a:ext cx="6016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is simultaneously a risk-reduction tool and the seed of the engineered product.</a:t>
            </a:r>
            <a:endParaRPr lang="en-US" sz="1080" dirty="0"/>
          </a:p>
        </p:txBody>
      </p:sp>
      <p:sp>
        <p:nvSpPr>
          <p:cNvPr id="31" name="Shape 26"/>
          <p:cNvSpPr/>
          <p:nvPr/>
        </p:nvSpPr>
        <p:spPr>
          <a:xfrm>
            <a:off x="548640" y="4681728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/>
        </p:spPr>
      </p:sp>
      <p:sp>
        <p:nvSpPr>
          <p:cNvPr id="32" name="Shape 27"/>
          <p:cNvSpPr/>
          <p:nvPr/>
        </p:nvSpPr>
        <p:spPr>
          <a:xfrm>
            <a:off x="713232" y="4837176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3" name="Image 3" descr="icons_t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92624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463040" y="4681728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4663440" y="468172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0"/>
          <p:cNvSpPr/>
          <p:nvPr/>
        </p:nvSpPr>
        <p:spPr>
          <a:xfrm>
            <a:off x="5166360" y="4681728"/>
            <a:ext cx="6473952" cy="932688"/>
          </a:xfrm>
          <a:prstGeom prst="roundRect">
            <a:avLst>
              <a:gd name="adj" fmla="val 7843"/>
            </a:avLst>
          </a:prstGeom>
          <a:solidFill>
            <a:srgbClr val="1B2A4A"/>
          </a:solidFill>
          <a:ln/>
        </p:spPr>
      </p:sp>
      <p:sp>
        <p:nvSpPr>
          <p:cNvPr id="37" name="Text 31"/>
          <p:cNvSpPr/>
          <p:nvPr/>
        </p:nvSpPr>
        <p:spPr>
          <a:xfrm>
            <a:off x="5394960" y="47731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40080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Plan Next Loop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5394960" y="5102352"/>
            <a:ext cx="6016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IS the customer evaluation that shapes the next spiral loop's objectives.</a:t>
            </a:r>
            <a:endParaRPr lang="en-US" sz="1080" dirty="0"/>
          </a:p>
        </p:txBody>
      </p:sp>
      <p:sp>
        <p:nvSpPr>
          <p:cNvPr id="40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at Qltc: A Client Portal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spiral loop, built the Design Thinking way — Software Development &amp; Managed Services vertical.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21945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icons_empath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23888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 + Define  →  Q1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the client's ops team and portal end-users; define this increment's goal — e.g. a self-service dashboard for order status.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154680" y="2514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83280" y="15087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6616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297680" y="2194560"/>
            <a:ext cx="777240" cy="77724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5" name="Image 1" descr="icons_ide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2388870"/>
            <a:ext cx="388620" cy="3886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2044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  →  Alternatives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6616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2–3 workflow options for the dashboard with the client in the room; agree on the most promising direction.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5989320" y="2514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17920" y="15087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0080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7132320" y="219456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2" descr="icons_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630" y="2388870"/>
            <a:ext cx="388620" cy="3886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508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De-risk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5508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Engineer  →  Q2/Q3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clickable prototype; flag the ERP data-integration risk early; develop and unit-test the real increment.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8823960" y="2514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052560" y="150876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923544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9966960" y="21945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3" descr="icons_revi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270" y="2388870"/>
            <a:ext cx="388620" cy="3886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8972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18972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Review  →  Q4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23544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client stakeholders, capture feedback and sign-off — which becomes the objective for the next spiral loop.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548640" y="5650992"/>
            <a:ext cx="11091672" cy="502920"/>
          </a:xfrm>
          <a:prstGeom prst="roundRect">
            <a:avLst>
              <a:gd name="adj" fmla="val 49091"/>
            </a:avLst>
          </a:prstGeom>
          <a:solidFill>
            <a:srgbClr val="1B2A4A"/>
          </a:solidFill>
          <a:ln/>
        </p:spPr>
      </p:sp>
      <p:sp>
        <p:nvSpPr>
          <p:cNvPr id="36" name="Text 30"/>
          <p:cNvSpPr/>
          <p:nvPr/>
        </p:nvSpPr>
        <p:spPr>
          <a:xfrm>
            <a:off x="822960" y="5650992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repeats for the next feature increment — each pass a little faster, a little more informed.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Combination Works for Qltc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78308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icons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20002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Costly Rebuilds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356616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mismatch during Empathize/Q1 costs a conversation. Catching it after delivery costs a re-build.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41732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1783080"/>
            <a:ext cx="868680" cy="86868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0" name="Image 1" descr="icons_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00025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Client Trust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11880" y="356616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see their input shape each cycle — consulting delivered as a partnership, not a handoff.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178308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2" descr="icons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70" y="200025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 + Discipline, Together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46520" y="356616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Thinking's openness balances the Spiral Model's structure — neither alone is enough.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52560" y="141732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21240" y="1783080"/>
            <a:ext cx="868680" cy="86868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20" name="Image 3" descr="icons_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410" y="200025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35440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 Qltc's DNA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281160" y="356616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risk-aware, client-partnered delivery — the same posture behind our Operational Excellence work.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for Your Next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16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_empath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145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481328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Empathize, not a spec document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1874520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engagement — technical or not — begins by understanding the real user, not writing requirements first.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7203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icons_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032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2670048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prototypes as risk-reduction, not demos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737360" y="3063240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prototype's job is to answer 'what could go wrong,' the same job as Quadrant 2 of the spiral.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909060"/>
            <a:ext cx="731520" cy="73152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5" name="Image 2" descr="icons_spi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919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3858768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every project as a spiral, not a single pass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737360" y="4251960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cycles from the start — smaller loops beat one long build-and-hope.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0192E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0977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3" descr="icons_revi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280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5047488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client feedback a scheduled checkpoint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737360" y="5440680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iteration ends with real user or client review — never assume, always confirm.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Qltc  |  Design Thinking &amp; the Spiral Model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291840" cy="32918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0" descr="qlt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737360" cy="9899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00116" y="2103120"/>
            <a:ext cx="1188720" cy="118872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6" name="Image 1" descr="icons_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240030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35661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Praveen Rao  |  Founder &amp; Managing Partner, Qltc  |  www.qltc.in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2026-07-17T04:35:21Z</dcterms:created>
  <dcterms:modified xsi:type="dcterms:W3CDTF">2026-07-17T04:35:21Z</dcterms:modified>
</cp:coreProperties>
</file>